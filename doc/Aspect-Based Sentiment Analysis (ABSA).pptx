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def5e8f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def5e8f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def5e8f8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def5e8f8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def5e8f8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def5e8f8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ef5e8f8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def5e8f8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def5e8f8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def5e8f8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def5e8f8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def5e8f8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def5e8f8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def5e8f8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def5e8f8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def5e8f8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def5e8f8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def5e8f8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ef5e8f8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def5e8f8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1DAE9"/>
                </a:solidFill>
              </a:rPr>
              <a:t>Aspect-Based Sentiment Analysis (ABSA)</a:t>
            </a:r>
            <a:endParaRPr>
              <a:solidFill>
                <a:srgbClr val="51DAE9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Implementation &amp; Evaluation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806900" y="3775425"/>
            <a:ext cx="55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3F3F3"/>
                </a:solidFill>
              </a:rPr>
              <a:t>Vladalin Bosii and Aleksiya Solovyova, class 302</a:t>
            </a:r>
            <a:endParaRPr sz="18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27800" y="2349300"/>
            <a:ext cx="8504400" cy="1857600"/>
          </a:xfrm>
          <a:prstGeom prst="roundRect">
            <a:avLst>
              <a:gd fmla="val 8825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Problem Statement</a:t>
            </a:r>
            <a:endParaRPr sz="282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2340550"/>
            <a:ext cx="8520600" cy="187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51DAE9"/>
                </a:solidFill>
              </a:rPr>
              <a:t>Project Goal</a:t>
            </a:r>
            <a:endParaRPr b="1" sz="2000">
              <a:solidFill>
                <a:srgbClr val="51DAE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 and compare multiple ABSA approaches with a shared interface for fair evaluation.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Key Outputs:</a:t>
            </a:r>
            <a:r>
              <a:rPr lang="en"/>
              <a:t> </a:t>
            </a:r>
            <a:r>
              <a:rPr lang="en" sz="1600"/>
              <a:t>Aspect, Sentiment, Confidence (optionally with text spans)</a:t>
            </a:r>
            <a:endParaRPr sz="230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381975"/>
            <a:ext cx="85206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" sz="1565"/>
              <a:t>Aspect-Based Sentiment Analysis (ABSA) identifies specific aspects in text (e.g., food, service, ambiance) and determines sentiment for each aspect independently.</a:t>
            </a:r>
            <a:endParaRPr sz="156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327800" y="1162950"/>
            <a:ext cx="8504400" cy="90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27800" y="2395800"/>
            <a:ext cx="8504400" cy="90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27800" y="3628650"/>
            <a:ext cx="8504400" cy="909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5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Three Implementations</a:t>
            </a:r>
            <a:endParaRPr b="1" sz="302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51DAE9"/>
                </a:solidFill>
              </a:rPr>
              <a:t>1. LexiconABSA</a:t>
            </a:r>
            <a:endParaRPr b="1" sz="1600">
              <a:solidFill>
                <a:srgbClr val="51DAE9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B7B7B7"/>
                </a:solidFill>
              </a:rPr>
              <a:t>Rule-based NLP approach using linguistic patterns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2390575"/>
            <a:ext cx="85206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51DAE9"/>
                </a:solidFill>
              </a:rPr>
              <a:t>2. TransformerABSA</a:t>
            </a:r>
            <a:endParaRPr b="1" sz="1500">
              <a:solidFill>
                <a:srgbClr val="51DAE9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CCCCCC"/>
                </a:solidFill>
              </a:rPr>
              <a:t>Pre-trained transformer model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3628675"/>
            <a:ext cx="85206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51DAE9"/>
                </a:solidFill>
              </a:rPr>
              <a:t>3. LLMABSA</a:t>
            </a:r>
            <a:endParaRPr b="1" sz="1600">
              <a:solidFill>
                <a:srgbClr val="51DAE9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CCCCCC"/>
                </a:solidFill>
              </a:rPr>
              <a:t>Large Language Model prompting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327800" y="1436125"/>
            <a:ext cx="8520600" cy="29034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200"/>
              <a:t>LexiconABSA: Rule-Based Approach</a:t>
            </a:r>
            <a:endParaRPr sz="33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437775"/>
            <a:ext cx="8520600" cy="29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51DAE9"/>
                </a:solidFill>
              </a:rPr>
              <a:t>Core Technology: spaCy + NLTK VADER</a:t>
            </a:r>
            <a:endParaRPr sz="1600">
              <a:solidFill>
                <a:srgbClr val="51DAE9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51DAE9"/>
                </a:solidFill>
              </a:rPr>
              <a:t>Key Features</a:t>
            </a:r>
            <a:endParaRPr b="1" sz="1900">
              <a:solidFill>
                <a:srgbClr val="51DAE9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Fast &amp; simple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CPU-only, minimal resources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No training needed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Stable outputs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</a:t>
            </a:r>
            <a:r>
              <a:rPr b="1" lang="en" sz="1400">
                <a:solidFill>
                  <a:srgbClr val="D9D9D9"/>
                </a:solidFill>
              </a:rPr>
              <a:t>rade-off:</a:t>
            </a:r>
            <a:r>
              <a:rPr lang="en" sz="1400">
                <a:solidFill>
                  <a:srgbClr val="D9D9D9"/>
                </a:solidFill>
              </a:rPr>
              <a:t> Struggles with implicit aspects and sarcasm</a:t>
            </a:r>
            <a:endParaRPr sz="21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327800" y="1436125"/>
            <a:ext cx="8520600" cy="29034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200"/>
              <a:t>TransformerABSA: Pretrained Transformer Model</a:t>
            </a:r>
            <a:endParaRPr sz="3300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395075"/>
            <a:ext cx="85206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51DAE9"/>
                </a:solidFill>
              </a:rPr>
              <a:t>Core Technology: DeBERTa-v3 (yangheng/deberta-v3-base-absa-v1.1)</a:t>
            </a:r>
            <a:endParaRPr sz="1500">
              <a:solidFill>
                <a:srgbClr val="51DAE9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51DAE9"/>
                </a:solidFill>
              </a:rPr>
              <a:t>Key Features</a:t>
            </a:r>
            <a:endParaRPr b="1" sz="1700">
              <a:solidFill>
                <a:srgbClr val="51DAE9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Strong contextual understanding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GPU-accelerated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High classification accuracy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Probabilistic confidence scores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D9D9D9"/>
                </a:solidFill>
              </a:rPr>
              <a:t>Trade-off:</a:t>
            </a:r>
            <a:r>
              <a:rPr lang="en" sz="1500">
                <a:solidFill>
                  <a:srgbClr val="D9D9D9"/>
                </a:solidFill>
              </a:rPr>
              <a:t> Higher resource usage, simplistic aspect extraction</a:t>
            </a:r>
            <a:endParaRPr sz="19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327800" y="1436125"/>
            <a:ext cx="8520600" cy="29034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200"/>
              <a:t>LLMABSA: Large Language Model Approach</a:t>
            </a:r>
            <a:endParaRPr b="1" sz="3300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412425"/>
            <a:ext cx="85206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51DAE9"/>
                </a:solidFill>
              </a:rPr>
              <a:t>Core Technology: Qwen 2.5 7B via Ollama</a:t>
            </a:r>
            <a:endParaRPr sz="1500">
              <a:solidFill>
                <a:srgbClr val="51DAE9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51DAE9"/>
                </a:solidFill>
              </a:rPr>
              <a:t>Key Features</a:t>
            </a:r>
            <a:endParaRPr b="1" sz="1700">
              <a:solidFill>
                <a:srgbClr val="51DAE9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Most flexible extraction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Best zero-shot performance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Highest overall accuracy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Easy adaptation via prompting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CCCCCC"/>
                </a:solidFill>
              </a:rPr>
              <a:t>Trade-off:</a:t>
            </a:r>
            <a:r>
              <a:rPr lang="en" sz="1500">
                <a:solidFill>
                  <a:srgbClr val="CCCCCC"/>
                </a:solidFill>
              </a:rPr>
              <a:t> Slow processing, high computational cost</a:t>
            </a:r>
            <a:endParaRPr sz="19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311700" y="1261625"/>
            <a:ext cx="8520600" cy="33591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Experimental Setup</a:t>
            </a:r>
            <a:endParaRPr b="1"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61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51DAE9"/>
                </a:solidFill>
              </a:rPr>
              <a:t>Dataset</a:t>
            </a:r>
            <a:endParaRPr b="1">
              <a:solidFill>
                <a:srgbClr val="51DAE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D9D9D9"/>
                </a:solidFill>
              </a:rPr>
              <a:t>100 Yelp-inspired restaurant reviews</a:t>
            </a:r>
            <a:endParaRPr sz="16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51DAE9"/>
                </a:solidFill>
              </a:rPr>
              <a:t>Evaluation Metrics</a:t>
            </a:r>
            <a:endParaRPr b="1">
              <a:solidFill>
                <a:srgbClr val="51DAE9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Classification:</a:t>
            </a:r>
            <a:r>
              <a:rPr lang="en" sz="1600">
                <a:solidFill>
                  <a:schemeClr val="dk1"/>
                </a:solidFill>
              </a:rPr>
              <a:t> Accuracy, Precision, Recall, F1 Score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Behavior:</a:t>
            </a:r>
            <a:r>
              <a:rPr lang="en" sz="1600">
                <a:solidFill>
                  <a:schemeClr val="dk1"/>
                </a:solidFill>
              </a:rPr>
              <a:t> Average aspects per review, confidence levels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Performance:</a:t>
            </a:r>
            <a:r>
              <a:rPr lang="en" sz="1600">
                <a:solidFill>
                  <a:schemeClr val="dk1"/>
                </a:solidFill>
              </a:rPr>
              <a:t> Processing time per review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51DAE9"/>
                </a:solidFill>
              </a:rPr>
              <a:t>Testing</a:t>
            </a:r>
            <a:endParaRPr b="1">
              <a:solidFill>
                <a:srgbClr val="51DAE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D9D9D9"/>
                </a:solidFill>
              </a:rPr>
              <a:t>Jupyter notebook for automated comparison across all models</a:t>
            </a:r>
            <a:endParaRPr sz="23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performanc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337" y="304526"/>
            <a:ext cx="6803400" cy="4534500"/>
          </a:xfrm>
          <a:prstGeom prst="roundRect">
            <a:avLst>
              <a:gd fmla="val 7583" name="adj"/>
            </a:avLst>
          </a:prstGeom>
          <a:noFill/>
          <a:ln cap="flat" cmpd="sng" w="9525">
            <a:solidFill>
              <a:srgbClr val="51DAE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311700" y="3705440"/>
            <a:ext cx="8520600" cy="10563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51D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311700" y="2233720"/>
            <a:ext cx="8520600" cy="10563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51D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/>
          <p:nvPr/>
        </p:nvSpPr>
        <p:spPr>
          <a:xfrm>
            <a:off x="311700" y="863550"/>
            <a:ext cx="8520600" cy="10563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51D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263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When to Use Each Approach</a:t>
            </a:r>
            <a:endParaRPr b="1"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96600" y="863550"/>
            <a:ext cx="8520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51DAE9"/>
                </a:solidFill>
              </a:rPr>
              <a:t>LexiconABSA</a:t>
            </a:r>
            <a:endParaRPr sz="1300">
              <a:solidFill>
                <a:srgbClr val="51DAE9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Real-time applications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Resource-constrained environments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On-device processing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96600" y="2180175"/>
            <a:ext cx="8520600" cy="11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51DAE9"/>
                </a:solidFill>
              </a:rPr>
              <a:t>TransformerABSA</a:t>
            </a:r>
            <a:endParaRPr sz="1300">
              <a:solidFill>
                <a:srgbClr val="51DAE9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Batch processing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Quality priority with available compute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Balanced accuracy/speed needs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96600" y="3659700"/>
            <a:ext cx="8520600" cy="11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51DAE9"/>
                </a:solidFill>
              </a:rPr>
              <a:t>LLMABSA</a:t>
            </a:r>
            <a:endParaRPr sz="1300">
              <a:solidFill>
                <a:srgbClr val="51DAE9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Rapid prototyping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Diverse/unseen domains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Maximum accuracy priority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311700" y="1441125"/>
            <a:ext cx="8520600" cy="28047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51D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Potential Improvements</a:t>
            </a:r>
            <a:endParaRPr b="1"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613325"/>
            <a:ext cx="8520600" cy="24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">
                <a:solidFill>
                  <a:schemeClr val="accent2"/>
                </a:solidFill>
              </a:rPr>
              <a:t>Domain-specific lexicon expansion</a:t>
            </a:r>
            <a:endParaRPr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">
                <a:solidFill>
                  <a:schemeClr val="accent2"/>
                </a:solidFill>
              </a:rPr>
              <a:t>Better multi-word phrase detection</a:t>
            </a:r>
            <a:endParaRPr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">
                <a:solidFill>
                  <a:schemeClr val="accent2"/>
                </a:solidFill>
              </a:rPr>
              <a:t>Larger LLM models (13B/70B parameters)</a:t>
            </a:r>
            <a:endParaRPr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">
                <a:solidFill>
                  <a:schemeClr val="accent2"/>
                </a:solidFill>
              </a:rPr>
              <a:t>Hybrid approaches combining extraction + classification</a:t>
            </a:r>
            <a:endParaRPr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">
                <a:solidFill>
                  <a:schemeClr val="accent2"/>
                </a:solidFill>
              </a:rPr>
              <a:t>Multi-language support</a:t>
            </a:r>
            <a:endParaRPr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">
                <a:solidFill>
                  <a:schemeClr val="accent2"/>
                </a:solidFill>
              </a:rPr>
              <a:t>Real-time feedback integration</a:t>
            </a:r>
            <a:endParaRPr>
              <a:solidFill>
                <a:schemeClr val="accen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</a:pPr>
            <a:r>
              <a:rPr lang="en">
                <a:solidFill>
                  <a:schemeClr val="accent2"/>
                </a:solidFill>
              </a:rPr>
              <a:t>Custom sentiment categories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C2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311700" y="1378700"/>
            <a:ext cx="8520600" cy="2598900"/>
          </a:xfrm>
          <a:prstGeom prst="roundRect">
            <a:avLst>
              <a:gd fmla="val 8334" name="adj"/>
            </a:avLst>
          </a:prstGeom>
          <a:solidFill>
            <a:schemeClr val="lt1"/>
          </a:solidFill>
          <a:ln cap="flat" cmpd="sng" w="9525">
            <a:solidFill>
              <a:srgbClr val="51D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Takeaways</a:t>
            </a:r>
            <a:endParaRPr b="1"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637325"/>
            <a:ext cx="8520600" cy="23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ABSA benefits from combining extraction logic with robust sentiment classifiers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Shared interfaces enable fair comparison across different approaches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Trade-offs exist between accuracy, speed, and resource usage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LLMs are powerful but require careful output control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Choice of approach depends on specific use case requirements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